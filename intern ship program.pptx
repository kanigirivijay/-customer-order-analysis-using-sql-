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4630400" cy="8229600"/>
  <p:notesSz cx="8229600" cy="14630400"/>
  <p:embeddedFontLst>
    <p:embeddedFont>
      <p:font typeface="Mona Sans Semi Bold" pitchFamily="34" charset="0"/>
      <p:regular r:id="rId31"/>
    </p:embeddedFont>
    <p:embeddedFont>
      <p:font typeface="Mona Sans Semi Bold" pitchFamily="34" charset="-122"/>
      <p:regular r:id="rId32"/>
    </p:embeddedFont>
    <p:embeddedFont>
      <p:font typeface="Mona Sans Semi Bold" pitchFamily="34" charset="-120"/>
      <p:regular r:id="rId33"/>
    </p:embeddedFont>
    <p:embeddedFont>
      <p:font typeface="Funnel Sans" pitchFamily="34" charset="0"/>
      <p:regular r:id="rId34"/>
    </p:embeddedFont>
    <p:embeddedFont>
      <p:font typeface="Funnel Sans" pitchFamily="34" charset="-122"/>
      <p:regular r:id="rId35"/>
    </p:embeddedFont>
    <p:embeddedFont>
      <p:font typeface="Funnel Sans" pitchFamily="34" charset="-120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10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9.fntdata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2393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Internship Program: Soul Tech Vibe "Customer Order Analysis Using SQL"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710113"/>
            <a:ext cx="4825841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Batch Name: </a:t>
            </a:r>
            <a:r>
              <a:rPr lang="en-US" altLang="en-US" sz="4000" dirty="0">
                <a:solidFill>
                  <a:schemeClr val="bg1"/>
                </a:solidFill>
              </a:rPr>
              <a:t>SVT/DAINT/2025/06-B10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404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644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 this task, I was asked to analyze higher education course data using SQL.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4864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main objective was to derive meaningful insights by writing SQL queries to filter, group, and summarize the information.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9084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Through this analysis, I aimed to: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3304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Understand the distribution of professional courses across districts.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7524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Explore trends in course durations, college types, and universities.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1743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 key patterns that support decision-making and improve operational understanding.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59636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 was used as the primary tool to answer specific business questions, uncover trends, and provide clear, data-driven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844" y="518398"/>
            <a:ext cx="10790158" cy="353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 .top 5 districts with the highest number of colleges offering professional courses.</a:t>
            </a:r>
            <a:endParaRPr lang="en-US" sz="2200" dirty="0"/>
          </a:p>
        </p:txBody>
      </p:sp>
      <p:pic>
        <p:nvPicPr>
          <p:cNvPr id="4" name="Picture 3" descr="sql 1 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65" y="1175385"/>
            <a:ext cx="11550015" cy="6402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102" y="661273"/>
            <a:ext cx="12481441" cy="3358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Q2.the average course duration (in months) for each Course Type and sort them in descending order.</a:t>
            </a:r>
            <a:endParaRPr lang="en-US" sz="2100" dirty="0"/>
          </a:p>
        </p:txBody>
      </p:sp>
      <p:pic>
        <p:nvPicPr>
          <p:cNvPr id="4" name="Picture 3" descr="sql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354455"/>
            <a:ext cx="12081510" cy="6119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577" y="481727"/>
            <a:ext cx="13405247" cy="1093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28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Q3 .Count how many unique College Names offer each Course Category.</a:t>
            </a:r>
            <a:endParaRPr lang="en-US" sz="2800" dirty="0">
              <a:solidFill>
                <a:srgbClr val="DDDDDD"/>
              </a:solidFill>
              <a:latin typeface="Mona Sans Semi Bold" pitchFamily="34" charset="0"/>
              <a:ea typeface="Mona Sans Semi Bold" pitchFamily="34" charset="-122"/>
              <a:cs typeface="Mona Sans Semi Bold" pitchFamily="34" charset="-120"/>
            </a:endParaRPr>
          </a:p>
        </p:txBody>
      </p:sp>
      <p:pic>
        <p:nvPicPr>
          <p:cNvPr id="4" name="Picture 3" descr="sql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520190"/>
            <a:ext cx="11370310" cy="638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963" y="515183"/>
            <a:ext cx="11453098" cy="3508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Q4. Find the names of colleges offering both Post Graduate and Under Graduate courses.</a:t>
            </a:r>
            <a:endParaRPr lang="en-US" sz="2200" dirty="0"/>
          </a:p>
        </p:txBody>
      </p:sp>
      <p:pic>
        <p:nvPicPr>
          <p:cNvPr id="4" name="Picture 3" descr="sql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1195070"/>
            <a:ext cx="12755245" cy="6836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25" y="516969"/>
            <a:ext cx="11414641" cy="3520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Q5 .List all universities that have more than 10 unaided courses that are not professional.</a:t>
            </a:r>
            <a:endParaRPr lang="en-US" sz="2200" dirty="0"/>
          </a:p>
        </p:txBody>
      </p:sp>
      <p:pic>
        <p:nvPicPr>
          <p:cNvPr id="4" name="Picture 3" descr="sql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286510"/>
            <a:ext cx="11350625" cy="63474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219" y="477083"/>
            <a:ext cx="13415963" cy="650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Q6. Display colleges from the "Engineering" category that have at least one course with a duration greater than the category's average.</a:t>
            </a:r>
            <a:endParaRPr lang="en-US" sz="2000" dirty="0"/>
          </a:p>
        </p:txBody>
      </p:sp>
      <p:pic>
        <p:nvPicPr>
          <p:cNvPr id="4" name="Picture 3" descr="sql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" y="1410970"/>
            <a:ext cx="11786235" cy="6621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464" y="698302"/>
            <a:ext cx="12402383" cy="3549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Q7. Assign a rank to each course within a College Name based on course duration, longest first.</a:t>
            </a:r>
            <a:endParaRPr lang="en-US" sz="2200" dirty="0"/>
          </a:p>
        </p:txBody>
      </p:sp>
      <p:pic>
        <p:nvPicPr>
          <p:cNvPr id="4" name="Picture 3" descr="sql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290" y="1459865"/>
            <a:ext cx="11071225" cy="6208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725" y="690563"/>
            <a:ext cx="12670988" cy="3507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Q8. Find colleges where the longest and shortest course durations are more than 24 months apart.</a:t>
            </a:r>
            <a:endParaRPr lang="en-US" sz="2200" dirty="0"/>
          </a:p>
        </p:txBody>
      </p:sp>
      <p:pic>
        <p:nvPicPr>
          <p:cNvPr id="4" name="Picture 3" descr="sql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1316355"/>
            <a:ext cx="11205845" cy="6292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221" y="489823"/>
            <a:ext cx="13385959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Q9. Show the cumulative number of professional courses offered by each university sorted alphabetically.</a:t>
            </a:r>
            <a:endParaRPr lang="en-US" sz="2050" dirty="0"/>
          </a:p>
        </p:txBody>
      </p:sp>
      <p:pic>
        <p:nvPicPr>
          <p:cNvPr id="4" name="Picture 3" descr="sql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10" y="1156335"/>
            <a:ext cx="11238230" cy="6304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727" y="526613"/>
            <a:ext cx="10590490" cy="358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Q10. Using a self-join or CTE, find colleges offering more than one course category.</a:t>
            </a:r>
            <a:endParaRPr lang="en-US" sz="2250" dirty="0"/>
          </a:p>
        </p:txBody>
      </p:sp>
      <p:pic>
        <p:nvPicPr>
          <p:cNvPr id="5" name="Picture 4" descr="sql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237615"/>
            <a:ext cx="11590020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865" y="500420"/>
            <a:ext cx="13356669" cy="6824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Q11. Create a temporary table (CTE) that includes average duration of courses by district and use it to list talukas where the average course duration is above the district average.</a:t>
            </a:r>
            <a:endParaRPr lang="en-US" sz="2100" dirty="0"/>
          </a:p>
        </p:txBody>
      </p:sp>
      <p:pic>
        <p:nvPicPr>
          <p:cNvPr id="4" name="Picture 3" descr="sql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35" y="1515745"/>
            <a:ext cx="11165205" cy="6247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810" y="453985"/>
            <a:ext cx="6189345" cy="309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Q12. Create a new column classifying course duration as: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77810" y="1093708"/>
            <a:ext cx="13474779" cy="264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Short (&lt; 12 months)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77810" y="1415653"/>
            <a:ext cx="13474779" cy="264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Medium (12-36 months)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7810" y="1737598"/>
            <a:ext cx="13474779" cy="264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Long (&gt; 36 months)</a:t>
            </a:r>
            <a:endParaRPr lang="en-US" sz="1300" dirty="0"/>
          </a:p>
        </p:txBody>
      </p:sp>
      <p:pic>
        <p:nvPicPr>
          <p:cNvPr id="7" name="Picture 6" descr="sql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0" y="2198370"/>
            <a:ext cx="10212705" cy="5686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38" y="479822"/>
            <a:ext cx="13410724" cy="6531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Q13 .Extract only the course specialization from Course Name. (e.g., from "Bachelor of Engineering (B. E.) - Electrical", extract "Electrical")</a:t>
            </a:r>
            <a:endParaRPr lang="en-US" sz="2050" dirty="0"/>
          </a:p>
        </p:txBody>
      </p:sp>
      <p:pic>
        <p:nvPicPr>
          <p:cNvPr id="4" name="Picture 3" descr="sql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77950"/>
            <a:ext cx="10560685" cy="6323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11570494" cy="4168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Q14. Count how many courses include the word Engineering in the name.</a:t>
            </a:r>
            <a:endParaRPr lang="en-US" sz="2600" dirty="0"/>
          </a:p>
        </p:txBody>
      </p:sp>
      <p:pic>
        <p:nvPicPr>
          <p:cNvPr id="4" name="Picture 3" descr="sql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75" y="1416685"/>
            <a:ext cx="11083925" cy="6370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128" y="506016"/>
            <a:ext cx="10723721" cy="3450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Q15 .List all unique combinations of Course Name, Course Type, and Course Category.</a:t>
            </a:r>
            <a:endParaRPr lang="en-US" sz="2150" dirty="0"/>
          </a:p>
        </p:txBody>
      </p:sp>
      <p:pic>
        <p:nvPicPr>
          <p:cNvPr id="4" name="Picture 3" descr="sql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" y="1407795"/>
            <a:ext cx="10600055" cy="59550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99" y="504944"/>
            <a:ext cx="10404277" cy="344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Q16 .Write a query to get all courses that are not offered by any Government college.</a:t>
            </a:r>
            <a:endParaRPr lang="en-US" sz="2150" dirty="0"/>
          </a:p>
        </p:txBody>
      </p:sp>
      <p:pic>
        <p:nvPicPr>
          <p:cNvPr id="4" name="Picture 3" descr="sql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20" y="1159510"/>
            <a:ext cx="11557000" cy="64795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606" y="518160"/>
            <a:ext cx="9886831" cy="3532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Q17 .Find the university that has the second-highest number of aided courses.</a:t>
            </a:r>
            <a:endParaRPr lang="en-US" sz="2200" dirty="0"/>
          </a:p>
        </p:txBody>
      </p:sp>
      <p:pic>
        <p:nvPicPr>
          <p:cNvPr id="4" name="Picture 3" descr="sql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1128395"/>
            <a:ext cx="11346180" cy="6377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797" y="520422"/>
            <a:ext cx="9506188" cy="3539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Q18 . Show courses whose durations are above the median course duration.</a:t>
            </a:r>
            <a:endParaRPr lang="en-US" sz="2200" dirty="0"/>
          </a:p>
        </p:txBody>
      </p:sp>
      <p:pic>
        <p:nvPicPr>
          <p:cNvPr id="4" name="Picture 3" descr="sql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1105535"/>
            <a:ext cx="11525250" cy="6482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1145" y="464463"/>
            <a:ext cx="13448109" cy="1055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Q19 .For each University, find the percentage of unaided courses that are professional.</a:t>
            </a:r>
            <a:endParaRPr lang="en-US" sz="2400" dirty="0">
              <a:solidFill>
                <a:srgbClr val="DDDDDD"/>
              </a:solidFill>
              <a:latin typeface="Mona Sans Semi Bold" pitchFamily="34" charset="0"/>
              <a:ea typeface="Mona Sans Semi Bold" pitchFamily="34" charset="-122"/>
              <a:cs typeface="Mona Sans Semi Bold" pitchFamily="34" charset="-120"/>
            </a:endParaRPr>
          </a:p>
        </p:txBody>
      </p:sp>
      <p:pic>
        <p:nvPicPr>
          <p:cNvPr id="4" name="Picture 3" descr="sql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1627505"/>
            <a:ext cx="11134725" cy="62553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56" y="550069"/>
            <a:ext cx="12675156" cy="3405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Q20 .Determine which Course Category has the highest average course duration and display the top 3.</a:t>
            </a:r>
            <a:endParaRPr lang="en-US" sz="2100" dirty="0"/>
          </a:p>
        </p:txBody>
      </p:sp>
      <p:pic>
        <p:nvPicPr>
          <p:cNvPr id="4" name="Picture 3" descr="sql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1308100"/>
            <a:ext cx="11778615" cy="66211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223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4644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Through this SQL-based analysis of higher education course data, I was able to uncover valuable insights related to course offerings, college distributions, and university-level trends. Despite initial technical limitations—such as auto-generated column names—I successfully mapped and interpreted the dataset to answer a wide range of analytical questions.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3264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project enhanced my ability to: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7484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 with real-world data in SQL.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17043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 complex queries using grouping, joins, CTEs, and filtering.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5924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Translate raw data into meaningful, actionable insights.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01439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Overall, this task strengthened my skills in data exploration and problem-solving, while giving me practical experience in using SQL as a tool for analysis and reporting.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3392</Words>
  <Application>WPS Presentation</Application>
  <PresentationFormat>On-screen Show (16:9)</PresentationFormat>
  <Paragraphs>82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Mona Sans Semi Bold</vt:lpstr>
      <vt:lpstr>Mona Sans Semi Bold</vt:lpstr>
      <vt:lpstr>Mona Sans Semi Bold</vt:lpstr>
      <vt:lpstr>Funnel Sans</vt:lpstr>
      <vt:lpstr>Funnel Sans</vt:lpstr>
      <vt:lpstr>Funnel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user</cp:lastModifiedBy>
  <cp:revision>3</cp:revision>
  <dcterms:created xsi:type="dcterms:W3CDTF">2025-06-23T15:11:00Z</dcterms:created>
  <dcterms:modified xsi:type="dcterms:W3CDTF">2025-06-25T15:54:03Z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82BCE752F12D4D338D0A10543010FA95_12</vt:lpwstr>
  </property>
  <property fmtid="{D5CDD505-2E9C-101B-9397-08002B2CF9AE}" pid="3" name="KSOProductBuildVer">
    <vt:lpwstr>1033-12.2.0.21546</vt:lpwstr>
  </property>
</Properties>
</file>